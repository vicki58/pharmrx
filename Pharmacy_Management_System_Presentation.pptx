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4114800" cy="411480"/>
          </a:xfrm>
          <a:prstGeom prst="roundRect">
            <a:avLst/>
          </a:prstGeom>
          <a:solidFill>
            <a:srgbClr val="10324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IBL12307: WEB DEVELOPMENT LABORATORY 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PharmRx: Pharmacy Management System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A Secure, Role-Based PHP &amp; MySQL Web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503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Instructor: Dr. Edwin Ngwawe</a:t>
            </a:r>
          </a:p>
          <a:p>
            <a:pPr>
              <a:defRPr sz="1300">
                <a:solidFill>
                  <a:srgbClr val="06B6D4"/>
                </a:solidFill>
              </a:defRPr>
            </a:pPr>
            <a:r>
              <a:t>Deliverables: Source Code | MySQL Database (.sql) | Report | 10-Min Live Demonstration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0:00 - 0:45 |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1. Introduction &amp; Real-World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87171"/>
                </a:solidFill>
              </a:defRPr>
            </a:pPr>
            <a:r>
              <a:t>THE REAL-WORLD PROBLEM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Traditional pharmacies rely on manual paper logbooks and fragmented spreadsheets.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High risk of stock discrepancies, expired medications, and overselling.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Absence of user accountability: no verifiable record of who added, edited, or deleted items.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Security risks: vulnerability to price tampering and unauthorized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THE PHARMRX SOLUTION &amp; TARGET USERS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✔ Centralized Inventory Hub: Real-time stock levels, pricing in KES, and visual packaging photos.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✔ Automated Sales POS: Instant price calculation and automatic stock deduction.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✔ Target User Role 1: Pharmacy Administrator (Full CRUD control, system audit logs, restock powers).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✔ Target User Role 2: Normal Staff / Pharmacist (View catalog, check stock, record sales transactions).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0:45 - 1:30 |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2. Project Objectives &amp; System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Objective 1: Automated Inventory &amp; Sales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Replace error-prone manual logs with transactional medicine cataloging, categorized inventory, and automated inventory deduction upon sale.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Objective 2: Robust Role-Based Access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Enforce strict privilege separation between Administrators (CRUD + auditing) and Normal Staff (view-only catalog + transaction recording).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Objective 3: Security &amp; Full Auditability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Demonstrate industry best practices: 100% PDO prepared statements, Bcrypt password hashing, XSS sanitization, and automated activity logging.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6984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SYSTEM SCOPE SUMMARY</a:t>
            </a:r>
          </a:p>
          <a:p>
            <a:pPr>
              <a:spcBef>
                <a:spcPts val="400"/>
              </a:spcBef>
              <a:defRPr sz="1250">
                <a:solidFill>
                  <a:srgbClr val="F8FAFC"/>
                </a:solidFill>
              </a:defRPr>
            </a:pPr>
            <a:r>
              <a:t>• User Auth: Secure Register, Login, Logout, and Change Password.</a:t>
            </a:r>
          </a:p>
          <a:p>
            <a:pPr>
              <a:spcBef>
                <a:spcPts val="400"/>
              </a:spcBef>
              <a:defRPr sz="1250">
                <a:solidFill>
                  <a:srgbClr val="F8FAFC"/>
                </a:solidFill>
              </a:defRPr>
            </a:pPr>
            <a:r>
              <a:t>• Catalog Management: Create, Read, Update, Delete medicines with KES currency &amp; image uploads.</a:t>
            </a:r>
          </a:p>
          <a:p>
            <a:pPr>
              <a:spcBef>
                <a:spcPts val="400"/>
              </a:spcBef>
              <a:defRPr sz="1250">
                <a:solidFill>
                  <a:srgbClr val="F8FAFC"/>
                </a:solidFill>
              </a:defRPr>
            </a:pPr>
            <a:r>
              <a:t>• POS &amp; Inventory: Multi-item sales records, live price calculator, automatic stock deduction.</a:t>
            </a:r>
          </a:p>
          <a:p>
            <a:pPr>
              <a:spcBef>
                <a:spcPts val="400"/>
              </a:spcBef>
              <a:defRPr sz="1250">
                <a:solidFill>
                  <a:srgbClr val="F8FAFC"/>
                </a:solidFill>
              </a:defRPr>
            </a:pPr>
            <a:r>
              <a:t>• Audit Trail: System-wide activity logs tracking User, Action (Login, Logout, Add, Edit, Delete), and Time.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1:30 - 2:30 |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3. Relational Database Design &amp; Normalization (3NF)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TABLE: `users`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Authentication &amp; Roles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id (PK, Auto)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username (Unique)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email (Unique)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password_hash (Bcrypt)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role (Admin / Normal)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TABLE: `categories`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Medicine Grouping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id (PK, Auto)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name (Unique)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description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created_at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TABLE: `medicines`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Main Inventory Entity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id (PK, Auto)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category_id (FK -&gt; categories.id)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name (Unique)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price (KES), stock_quantity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image_path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TABLE: `sales`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Transaction Bridge Entity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id (PK, Auto)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medicine_id (FK -&gt; medicines.id)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user_id (FK -&gt; users.id)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quantity, total_price (KES)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sale_date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TABLE: `activity_logs`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Security Audit Trail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id (PK, Auto)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user_id (FK -&gt; users.id)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activity (ENUM)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description (Action details)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log_time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2:30 - 3:15 |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4. System Architecture &amp;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Backend: PHP 8.3 (PDO)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Clean modular PHP architecture using PDO connection handles, prepared statement queries, and session management guards.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Database: MySQL (InnoDB)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Full relational engine supporting Foreign Key cascading, constraints, and atomic ACID transactions during sales.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Frontend &amp; UI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Semantic HTML5, Vanilla JavaScript (client-side validation &amp; live price calculator), and custom dark-theme responsive CSS.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Security Stack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Bcrypt hashing (`password_hash`), XSS neutralization (`htmlspecialchars`), HTTP-only secure session cookies.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3:15 - 7:30 |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5. Live Demonstration: Step-by-Step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Step 1: Admin Login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Log in as `admin` (pass: `admin123`). Show KPI metrics (Total Medicines, Revenue in KES, Stock warnings).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1206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Step 2: Role Restriction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Log in as `staff` (pass: `staff123`). Show view-only medicine catalog; direct access to `medicine_add.php` shows 403 Forbidden.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Step 3: Main CRUD Cycle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Add new medicine -&gt; View in grid -&gt; Edit details -&gt; Delete record (cleaned up from DB &amp; storage).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51206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Step 4: Search &amp; Pagination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Search keyword 'Amoxicillin' -&gt; Instant filtered cards -&gt; Clear search -&gt; Paginate through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Step 5: File Upload &amp; Validation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Upload packaging image (JPG/PNG/WEBP). Demonstrate file size limit (&gt;2MB) rejection.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43200"/>
            <a:ext cx="51206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Step 6: Form Validation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Submit blank fields or negative price/stock -&gt; Show client-side JS alert &amp; server-side PHP feedback.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931920"/>
            <a:ext cx="51206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Step 7: Sales &amp; Stock Deduction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Record a sale as Staff -&gt; Live price calculator -&gt; Confirm stock auto-decrements in database.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5120640"/>
            <a:ext cx="51206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Step 8: Audit Activity Log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Open System Activity Logs -&gt; Verify entries for Login, Logout, Add, Edit, Delete with timestamps.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7:30 - 8:30 |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6. Security Architecture &amp; Test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CORE SECURITY CONTROLS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🛡️ SQL Injection Protection: Parameterized queries across all 100% of database interactions via PDO.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🛡️ Password Security: Cryptographic one-way Bcrypt hashing with auto-salting (`PASSWORD_DEFAULT`).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🛡️ XSS Neutralization: Mandatory `htmlspecialchars()` escaping on every dynamic string output.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🛡️ Session Hardening: `session_regenerate_id()` on login to prevent Session Fixation, plus HTTP-only flags.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AUTOMATED TEST SUITE (`test_runner.php`)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Database PDO Connection ............................. [ PASS ]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Verify Required Table Entities Count (Min 4) ....... [ PASS ]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Password Hashing Integration (Bcrypt) .............. [ PASS ]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User Role Check Helpers (Admin vs Normal) .......... [ PASS ]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Structural Normalization (Foreign Keys) ............ [ PASS ]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Activity Logger Writes to DB ....................... [ PASS ]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Stock &amp; Price Constraints Logic .................... [ PASS ]</a:t>
            </a:r>
          </a:p>
          <a:p>
            <a:pPr>
              <a:defRPr sz="1200">
                <a:solidFill>
                  <a:srgbClr val="F8FAFC"/>
                </a:solidFill>
              </a:defRPr>
            </a:pP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SUMMARY: 7 PASSED, 0 FAILED (100% SUCCESS)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8:30 - 9:15 |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7. Genuine Engineering Challenges &amp;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Challenge 1: Transactional Stock Deductions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PROBLEM: Concurrent sales could cause race conditions or negative inventory if two users purchased simultaneously.</a:t>
            </a:r>
            <a:br/>
            <a:r>
              <a:t>SOLUTION: Implemented MySQL InnoDB transactions (`beginTransaction()`, `FOR UPDATE` row lock, `commit()`, and `rollBack()`).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Challenge 2: Orphaned Media Files on Disk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PROBLEM: Editing medicine images or deleting records left unused image files consuming server storage.</a:t>
            </a:r>
            <a:br/>
            <a:r>
              <a:t>SOLUTION: Programmed an automatic cleanup routine using PHP's `unlink()` to permanently remove old files whenever updated or deleted.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Challenge 3: Multi-Tier Validation &amp; Security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PROBLEM: Relying solely on client-side JS validation is unsafe, but server-only validation causes poor user experience.</a:t>
            </a:r>
            <a:br/>
            <a:r>
              <a:t>SOLUTION: Built synchronized dual-tier validation: JavaScript provides immediate visual feedback, while PHP enforces strict server-side validation.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9:15 - 10:00 |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8. Lessons Learned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KEY LESSONS LEARNED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💡 Database normalization (3NF) upfront eliminates costly refactoring and data anomalies.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💡 Parameterized queries and prepared statements should be a fundamental reflex, never an afterthought.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💡 Activity logging provides invaluable forensic insight into multi-user systems.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💡 Role-based routing must be enforced at both the UI presentation layer and the server-side controller.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FUTURE IMPROVEMENTS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🚀 Barcode Scanning: Rapid point-of-sale checkout using webcam barcode scanner API.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🚀 Automated Notifications: SMS/Email alerts to suppliers when stock levels drop below reorder thresholds.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🚀 Receipt Printing: Direct PDF invoice &amp; receipt generation for customer purchases.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🚀 Supplier Module: Full purchase order tracking and supplier delivery ledger.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183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F8FAFC"/>
                </a:solidFill>
              </a:defRPr>
            </a:pPr>
            <a:r>
              <a:t>PharmRx Pharmacy Management System</a:t>
            </a:r>
          </a:p>
          <a:p>
            <a:pPr algn="ctr">
              <a:spcBef>
                <a:spcPts val="1600"/>
              </a:spcBef>
              <a:defRPr sz="1300">
                <a:solidFill>
                  <a:srgbClr val="94A3B8"/>
                </a:solidFill>
              </a:defRPr>
            </a:pPr>
            <a:r>
              <a:t>100% Rubric Coverage: Auth (10) | Roles (10) | Database (10) | CRUD (15) | Search/Pagination (10) | Upload (10) | Validation (10) | Security (10) | Logs (5) | UI (5) | Testing (5)</a:t>
            </a:r>
          </a:p>
          <a:p>
            <a:pPr algn="ctr">
              <a:spcBef>
                <a:spcPts val="2000"/>
              </a:spcBef>
              <a:defRPr sz="1800" b="1">
                <a:solidFill>
                  <a:srgbClr val="F8FAFC"/>
                </a:solidFill>
              </a:defRPr>
            </a:pPr>
            <a:r>
              <a:t>Ready for Questions &amp; Live Code Demonstration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7473</Words>
  <Application>WPS Presentation</Application>
  <PresentationFormat>On-screen Show (4:3)</PresentationFormat>
  <Paragraphs>185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incai</cp:lastModifiedBy>
  <cp:revision>2</cp:revision>
  <dcterms:created xsi:type="dcterms:W3CDTF">2013-01-27T09:14:00Z</dcterms:created>
  <dcterms:modified xsi:type="dcterms:W3CDTF">2026-09-04T07:37:31Z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4165294FAD1446C2AE39CFE5F430D040_12</vt:lpwstr>
  </property>
  <property fmtid="{D5CDD505-2E9C-101B-9397-08002B2CF9AE}" pid="3" name="KSOProductBuildVer">
    <vt:lpwstr>2057-12.2.0.23206</vt:lpwstr>
  </property>
</Properties>
</file>